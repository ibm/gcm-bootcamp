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1"/>
  </p:notesMasterIdLst>
  <p:sldIdLst>
    <p:sldId id="256" r:id="rId3"/>
    <p:sldId id="258" r:id="rId4"/>
    <p:sldId id="257" r:id="rId5"/>
    <p:sldId id="259" r:id="rId6"/>
    <p:sldId id="260" r:id="rId7"/>
    <p:sldId id="296" r:id="rId8"/>
    <p:sldId id="261" r:id="rId9"/>
    <p:sldId id="29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31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6301"/>
  </p:normalViewPr>
  <p:slideViewPr>
    <p:cSldViewPr snapToGrid="0">
      <p:cViewPr varScale="1">
        <p:scale>
          <a:sx n="104" d="100"/>
          <a:sy n="104" d="100"/>
        </p:scale>
        <p:origin x="232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22387-AC8A-0143-98EA-63582827F8A9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E220-A590-3645-A681-4AA2CBB35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556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Shor's Algorithm (1994):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landmark algorithm capable of factoring large integers exponentially faster than classical methods, highlighting the potential of quantum computing to challenge current encryption standards. </a:t>
            </a:r>
          </a:p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Quantum Error Correction (1995):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Developed foundational codes for protecting quantum information from noise, enabling practical, fault-tolerant quantum computing.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E220-A590-3645-A681-4AA2CBB35D4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911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FTQC = Fault-Tolerant Quantum Computing. Current estimates place a cryptographically relevant quantum computer between 2028 and 2033. Large enterprises starting migration today face 12-15+ year timelines, meaning they will still be migrating when current cryptography becomes vulnerable. This is the central urgency of the PQC migration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78F3F-9C5C-A337-69B4-5CFF2646E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D46D44-1FEF-E074-7BAC-0F5EF9ADC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42F1C-D80B-905E-159E-7C9A5DDA7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BCD-09D8-CB43-BDA4-DD63D7215DB0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C22F5-C347-289C-2DA4-1896B22E7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90491-F19C-3357-1441-BD029CAE5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6FCD-C19A-9949-8A09-41C39A3104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448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FA6BA-2F52-DC5F-6B55-90815F49F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FDBA8-D5CA-71F7-95DC-24CFD2DBB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805AD-3467-7BF7-BB38-7E4302B07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BCD-09D8-CB43-BDA4-DD63D7215DB0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F0048-BA0A-4CB4-3E0A-7C2016FA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6FF10-4EE3-CD40-2523-FB6D92344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6FCD-C19A-9949-8A09-41C39A3104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092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66FFB-06F0-E254-631D-115EC5BB1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FCF15-DFB6-EA18-3A91-C009B21DB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CF495-4451-1BE7-F9CF-B476FB13D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BCD-09D8-CB43-BDA4-DD63D7215DB0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2869D-FE79-7B4C-EAC7-890BBA0FF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EEBC7-9E59-B6E8-89FD-211041BD2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6FCD-C19A-9949-8A09-41C39A3104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428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513A6-DD2D-E1C7-8DF8-4C02D9426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C7858-D53E-0CD0-3316-B52540DE7F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7EB03A-1679-AB7F-17CE-B73B71FF2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73C31-D60E-88FA-7E7D-45E5994A3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BCD-09D8-CB43-BDA4-DD63D7215DB0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89BC1-083B-5EC1-1C92-A590B700B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56C3F-E6AB-6666-52B9-0B4552537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6FCD-C19A-9949-8A09-41C39A3104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62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09551-834F-052B-7FED-9AD5E2F3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20B82-B14C-1456-CD3D-C43952BA6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CA6EF1-AFC8-0734-DFED-A4E5A3017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A1B69A-0C5C-EF9B-EB86-5687514741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7DAA6-9986-24A0-A8C6-8B0DE1BAAB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590EE8-F291-89DA-B973-291E2D5A1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BCD-09D8-CB43-BDA4-DD63D7215DB0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08077C-F8F7-2D3E-3EEB-E93ABCC31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C4EFAE-3B88-AF8E-6C6E-B669FE169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6FCD-C19A-9949-8A09-41C39A3104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777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1322-2751-5219-5E63-9F1AAC499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D9F14-35F6-DC1E-3017-C0E51D17C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BCD-09D8-CB43-BDA4-DD63D7215DB0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ED1E9-63DD-7358-255F-6D421DFEC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D9CD2-DBAB-A748-06F1-B34729706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6FCD-C19A-9949-8A09-41C39A3104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804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9DA2EE-F6C0-7968-40CF-0B66DD8B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BCD-09D8-CB43-BDA4-DD63D7215DB0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7A7C0C-CCBD-76FF-0297-70F55B0B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06238-EC3A-167A-7DF1-2384D35E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6FCD-C19A-9949-8A09-41C39A3104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979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6B1C5-CC45-B7B4-872A-83FED1381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8D621-13C2-BC5F-E032-324C104FA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15FE7-0F54-2579-3E29-7603DCA14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F01E1-1E5A-0409-48D9-D6B39B2E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BCD-09D8-CB43-BDA4-DD63D7215DB0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B0879-F012-EA64-D24E-E96F7C922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BDCF7-4F08-7FF7-9B7A-7797C3C2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6FCD-C19A-9949-8A09-41C39A3104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403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5609B-F059-FCBB-EB74-9C73B57D3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FBC877-00ED-A399-DD16-4F8399009C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EC228-9D77-56B6-C26E-274DC0A6B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0F241-0513-EB04-C59B-9F42794F6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BCD-09D8-CB43-BDA4-DD63D7215DB0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DF042-F1CC-A111-62B2-41341A34C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E0B19-5ED6-3AFF-3C15-1E8B8BECE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6FCD-C19A-9949-8A09-41C39A3104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198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D1121-59C6-B682-1FE7-AF0B825BE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95AFDC-9677-183E-A1CE-29B543A5E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7683C-4F0D-484A-50FA-EC98E0778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BCD-09D8-CB43-BDA4-DD63D7215DB0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A22E3-61A4-4477-40BA-3232D3211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40C28-FFF3-4655-EF78-C27BADE21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6FCD-C19A-9949-8A09-41C39A3104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588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90CEB0-0011-AE48-FB4E-1C79207263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724B9F-C612-34AE-B534-858089EEB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80AF7-EE55-EABC-5322-810BC9D78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BCD-09D8-CB43-BDA4-DD63D7215DB0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ADBD8-CC8D-7662-DD53-A46F04BD7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4FCAF-34EF-F777-EDBA-1B41AE5F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6FCD-C19A-9949-8A09-41C39A3104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081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79028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451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42372E-5560-F32B-4253-63F916CDD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77CC7-F577-5C1C-1BFA-8468D3235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970B4-D79A-8AA7-53EC-9102DE01E5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25ABCD-09D8-CB43-BDA4-DD63D7215DB0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9B2F8-2FDD-C7C4-CCCC-BC5C00C01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C9B16-ABF9-1391-3C4B-5E6B56965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396FCD-C19A-9949-8A09-41C39A3104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390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0134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F966B4-056B-913E-6F72-A6A5E18A56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5C84F5-2652-F453-066E-3EA3D1B6C7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5758" y="680538"/>
            <a:ext cx="5452529" cy="3569242"/>
          </a:xfrm>
        </p:spPr>
        <p:txBody>
          <a:bodyPr anchor="t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Quantum-Ready Now: Federal Migration Strategies and Labs with IBM</a:t>
            </a:r>
            <a:r>
              <a:rPr lang="en-US" sz="4800" b="1" dirty="0">
                <a:solidFill>
                  <a:srgbClr val="FFFFFF"/>
                </a:solidFill>
              </a:rPr>
              <a:t> 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946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554AE-752B-30E4-4B08-FFF94F1AB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E3D37-5B8D-4A05-81FF-A6D3C48AA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532" y="291547"/>
            <a:ext cx="5592417" cy="758687"/>
          </a:xfrm>
        </p:spPr>
        <p:txBody>
          <a:bodyPr>
            <a:noAutofit/>
          </a:bodyPr>
          <a:lstStyle/>
          <a:p>
            <a:r>
              <a:rPr lang="en-US" sz="4400" dirty="0"/>
              <a:t>What is this device?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FFF0BB-0FCF-4ACB-076D-1243AA5E3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2790" y="0"/>
            <a:ext cx="594921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98A7DD-2A04-27CC-20E4-225C5A729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9767" y="2623930"/>
            <a:ext cx="1358900" cy="96223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3BAA7EF-5230-7070-6AFD-C6F31F1D49A2}"/>
              </a:ext>
            </a:extLst>
          </p:cNvPr>
          <p:cNvSpPr txBox="1"/>
          <p:nvPr/>
        </p:nvSpPr>
        <p:spPr>
          <a:xfrm>
            <a:off x="413347" y="2092283"/>
            <a:ext cx="568265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none" strike="noStrike" dirty="0">
                <a:effectLst/>
              </a:rPr>
              <a:t>Roadmap to Fault Tolerance:</a:t>
            </a:r>
            <a:r>
              <a:rPr lang="en-US" sz="2000" b="0" u="none" strike="noStrike" dirty="0">
                <a:effectLst/>
              </a:rPr>
              <a:t> </a:t>
            </a:r>
          </a:p>
          <a:p>
            <a:endParaRPr lang="en-US" sz="2000" dirty="0"/>
          </a:p>
          <a:p>
            <a:r>
              <a:rPr lang="en-US" sz="2000" b="0" u="none" strike="noStrike" dirty="0">
                <a:effectLst/>
              </a:rPr>
              <a:t>IBM is scaling towards a massive fault-tolerant machine (</a:t>
            </a:r>
            <a:r>
              <a:rPr lang="en-US" sz="2000" b="0" i="1" u="none" strike="noStrike" dirty="0">
                <a:effectLst/>
              </a:rPr>
              <a:t>Starling</a:t>
            </a:r>
            <a:r>
              <a:rPr lang="en-US" sz="2000" b="0" u="none" strike="noStrike" dirty="0">
                <a:effectLst/>
              </a:rPr>
              <a:t>) slated for 2029</a:t>
            </a:r>
          </a:p>
          <a:p>
            <a:endParaRPr lang="en-US" sz="2000" dirty="0"/>
          </a:p>
          <a:p>
            <a:r>
              <a:rPr lang="en-US" sz="2000" dirty="0"/>
              <a:t>It</a:t>
            </a:r>
            <a:r>
              <a:rPr lang="en-US" sz="2000" b="0" u="none" strike="noStrike" dirty="0">
                <a:effectLst/>
              </a:rPr>
              <a:t> will feature 200 logical qubits and the ability to accurately execute 100 million quantum gates</a:t>
            </a:r>
            <a:endParaRPr lang="en-US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5EB33F-049C-349E-296A-D599B9C1C1CD}"/>
              </a:ext>
            </a:extLst>
          </p:cNvPr>
          <p:cNvSpPr txBox="1"/>
          <p:nvPr/>
        </p:nvSpPr>
        <p:spPr>
          <a:xfrm>
            <a:off x="413347" y="61782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231D8"/>
                </a:solidFill>
              </a:rPr>
              <a:t>https://www.ibm.com/quantum/blog/large-scale-ftqc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BA63A6-C78E-2739-1883-5DFFC488785F}"/>
              </a:ext>
            </a:extLst>
          </p:cNvPr>
          <p:cNvSpPr txBox="1"/>
          <p:nvPr/>
        </p:nvSpPr>
        <p:spPr>
          <a:xfrm>
            <a:off x="413347" y="4657826"/>
            <a:ext cx="58294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"Q-Day” - between 2030 to 2035, it is predicted that quantum computers can run Shor’s algorithm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905E922-1D95-0278-4B13-95975D8A84D7}"/>
              </a:ext>
            </a:extLst>
          </p:cNvPr>
          <p:cNvSpPr/>
          <p:nvPr/>
        </p:nvSpPr>
        <p:spPr>
          <a:xfrm>
            <a:off x="8348870" y="5011769"/>
            <a:ext cx="2040834" cy="1057727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997B2D-2F76-C6B5-55A8-9CB78E11EE36}"/>
              </a:ext>
            </a:extLst>
          </p:cNvPr>
          <p:cNvSpPr txBox="1"/>
          <p:nvPr/>
        </p:nvSpPr>
        <p:spPr>
          <a:xfrm>
            <a:off x="413347" y="1404177"/>
            <a:ext cx="2350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u="none" strike="noStrike" dirty="0">
                <a:solidFill>
                  <a:srgbClr val="2231D8"/>
                </a:solidFill>
                <a:effectLst/>
              </a:rPr>
              <a:t>Quantum Chip!</a:t>
            </a:r>
            <a:endParaRPr lang="en-US" sz="1800" b="0" u="none" strike="noStrike" dirty="0">
              <a:solidFill>
                <a:srgbClr val="2231D8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75075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2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A3CFC-F3B9-EB99-EFDF-DD452D451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25099-7B5D-A49E-2EC4-62521DF47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4913" y="248556"/>
            <a:ext cx="5531087" cy="812764"/>
          </a:xfrm>
        </p:spPr>
        <p:txBody>
          <a:bodyPr>
            <a:noAutofit/>
          </a:bodyPr>
          <a:lstStyle/>
          <a:p>
            <a:r>
              <a:rPr lang="en-US" sz="5000" dirty="0"/>
              <a:t>Who is this person?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9B33EE-598F-1F08-EC60-CF7E69045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91" y="1450623"/>
            <a:ext cx="3851451" cy="47789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BA7662-D07A-0DD0-9939-D1EAF437AD73}"/>
              </a:ext>
            </a:extLst>
          </p:cNvPr>
          <p:cNvSpPr txBox="1"/>
          <p:nvPr/>
        </p:nvSpPr>
        <p:spPr>
          <a:xfrm>
            <a:off x="5481470" y="2008825"/>
            <a:ext cx="633454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effectLst/>
                <a:latin typeface="IBM Plex Sans" panose="020B0503050203000203" pitchFamily="34" charset="0"/>
              </a:rPr>
              <a:t>Shor’s algorithm </a:t>
            </a:r>
            <a:r>
              <a:rPr lang="en-US" sz="2400" dirty="0">
                <a:solidFill>
                  <a:srgbClr val="000000"/>
                </a:solidFill>
                <a:effectLst/>
                <a:latin typeface="IBM Plex Sans Light" panose="020B0403050203000203" pitchFamily="34" charset="0"/>
              </a:rPr>
              <a:t>(1994) shows a quantum computer can factor large numbers—at least 2048 bits long (that’s 617 decimal digits).</a:t>
            </a:r>
          </a:p>
          <a:p>
            <a:pPr marL="285750" indent="-28575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ffectLst/>
                <a:latin typeface="IBM Plex Sans Light" panose="020B0403050203000203" pitchFamily="34" charset="0"/>
              </a:rPr>
              <a:t>On a classical computer, this would take millions of years.</a:t>
            </a:r>
          </a:p>
          <a:p>
            <a:pPr marL="285750" indent="-28575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ffectLst/>
                <a:latin typeface="IBM Plex Sans Light" panose="020B0403050203000203" pitchFamily="34" charset="0"/>
              </a:rPr>
              <a:t>On a </a:t>
            </a:r>
            <a:r>
              <a:rPr lang="en-US" sz="2400" i="1" dirty="0">
                <a:solidFill>
                  <a:srgbClr val="000000"/>
                </a:solidFill>
                <a:effectLst/>
                <a:latin typeface="IBM Plex Sans" panose="020B0503050203000203" pitchFamily="34" charset="0"/>
              </a:rPr>
              <a:t>cryptographically relevant quantum computer,</a:t>
            </a:r>
            <a:r>
              <a:rPr lang="en-US" sz="2400" dirty="0">
                <a:solidFill>
                  <a:srgbClr val="000000"/>
                </a:solidFill>
                <a:effectLst/>
                <a:latin typeface="IBM Plex Sans Light" panose="020B0403050203000203" pitchFamily="34" charset="0"/>
              </a:rPr>
              <a:t> this would take</a:t>
            </a:r>
            <a:r>
              <a:rPr lang="en-US" sz="2400" i="1" dirty="0">
                <a:solidFill>
                  <a:srgbClr val="000000"/>
                </a:solidFill>
                <a:effectLst/>
                <a:latin typeface="IBM Plex Sans" panose="020B0503050203000203" pitchFamily="34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effectLst/>
                <a:latin typeface="IBM Plex Sans Light" panose="020B0403050203000203" pitchFamily="34" charset="0"/>
              </a:rPr>
              <a:t>a few hours.</a:t>
            </a:r>
          </a:p>
        </p:txBody>
      </p:sp>
    </p:spTree>
    <p:extLst>
      <p:ext uri="{BB962C8B-B14F-4D97-AF65-F5344CB8AC3E}">
        <p14:creationId xmlns:p14="http://schemas.microsoft.com/office/powerpoint/2010/main" val="2290104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C6B55-2198-496A-0D5C-A1DA81A87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87558-4E5A-BEB3-92BE-F625DCFA9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7650" y="1122363"/>
            <a:ext cx="9886123" cy="2306637"/>
          </a:xfrm>
        </p:spPr>
        <p:txBody>
          <a:bodyPr>
            <a:noAutofit/>
          </a:bodyPr>
          <a:lstStyle/>
          <a:p>
            <a:r>
              <a:rPr lang="en-US" sz="3200" dirty="0"/>
              <a:t>When does the White House Executive Order, Securing the Nation Against Advanced Cryptography Attacks” require federal civilian agencies to submit their Post-Quantum Cryptography (PQC) migration plans—outlining their posture and inventory reviews?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564AE4-B825-7354-E4BF-9C2B477180F0}"/>
              </a:ext>
            </a:extLst>
          </p:cNvPr>
          <p:cNvSpPr txBox="1"/>
          <p:nvPr/>
        </p:nvSpPr>
        <p:spPr>
          <a:xfrm>
            <a:off x="5261113" y="4104482"/>
            <a:ext cx="16830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2231D8"/>
                </a:solidFill>
              </a:rPr>
              <a:t>90 Days</a:t>
            </a:r>
          </a:p>
        </p:txBody>
      </p:sp>
    </p:spTree>
    <p:extLst>
      <p:ext uri="{BB962C8B-B14F-4D97-AF65-F5344CB8AC3E}">
        <p14:creationId xmlns:p14="http://schemas.microsoft.com/office/powerpoint/2010/main" val="2357870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33EA8-CD9B-F950-2418-900AF6B3D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0D35A-F412-E2F9-6E9E-42B158DAD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4156" y="172280"/>
            <a:ext cx="10283687" cy="2305878"/>
          </a:xfrm>
        </p:spPr>
        <p:txBody>
          <a:bodyPr>
            <a:noAutofit/>
          </a:bodyPr>
          <a:lstStyle/>
          <a:p>
            <a:r>
              <a:rPr lang="en-US" sz="4000" dirty="0"/>
              <a:t>How long it will take for an average federal agency to migrate their cryptography algorithms to Quantum Safe?</a:t>
            </a: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85975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Warning icon for FTQC threa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657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3733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FTQC THREAT WINDOW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2"/>
          <p:cNvSpPr/>
          <p:nvPr/>
        </p:nvSpPr>
        <p:spPr>
          <a:xfrm>
            <a:off x="1280160" y="975360"/>
            <a:ext cx="975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1867" dirty="0">
                <a:solidFill>
                  <a:srgbClr val="B0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Fault-Tolerant Quantum Computing capable of breaking RSA/ECC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09600" y="1828800"/>
            <a:ext cx="10972800" cy="6096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177144" y="1828800"/>
            <a:ext cx="3918857" cy="609600"/>
          </a:xfrm>
          <a:prstGeom prst="rect">
            <a:avLst/>
          </a:prstGeom>
          <a:solidFill>
            <a:srgbClr val="F96167">
              <a:alpha val="70000"/>
            </a:srgbClr>
          </a:solidFill>
          <a:ln/>
        </p:spPr>
        <p:txBody>
          <a:bodyPr/>
          <a:lstStyle/>
          <a:p>
            <a:pPr defTabSz="1219170"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2177144" y="1828800"/>
            <a:ext cx="391885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defRPr/>
            </a:pPr>
            <a:r>
              <a:rPr lang="en-US" sz="1733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FTQC 2028–2033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09600" y="2438400"/>
            <a:ext cx="24384" cy="182880"/>
          </a:xfrm>
          <a:prstGeom prst="rect">
            <a:avLst/>
          </a:prstGeom>
          <a:solidFill>
            <a:srgbClr val="B0BAC5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43840" y="262128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defRPr/>
            </a:pPr>
            <a:r>
              <a:rPr lang="en-US" sz="1600" dirty="0">
                <a:solidFill>
                  <a:srgbClr val="B0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393372" y="2438400"/>
            <a:ext cx="24384" cy="182880"/>
          </a:xfrm>
          <a:prstGeom prst="rect">
            <a:avLst/>
          </a:prstGeom>
          <a:solidFill>
            <a:srgbClr val="B0BAC5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27612" y="262128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defRPr/>
            </a:pPr>
            <a:r>
              <a:rPr lang="en-US" sz="1600" dirty="0">
                <a:solidFill>
                  <a:srgbClr val="B0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177143" y="2438400"/>
            <a:ext cx="24384" cy="182880"/>
          </a:xfrm>
          <a:prstGeom prst="rect">
            <a:avLst/>
          </a:prstGeom>
          <a:solidFill>
            <a:srgbClr val="B0BAC5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811383" y="262128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defRPr/>
            </a:pPr>
            <a:r>
              <a:rPr lang="en-US" sz="1600" dirty="0">
                <a:solidFill>
                  <a:srgbClr val="B0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744685" y="2438400"/>
            <a:ext cx="24384" cy="182880"/>
          </a:xfrm>
          <a:prstGeom prst="rect">
            <a:avLst/>
          </a:prstGeom>
          <a:solidFill>
            <a:srgbClr val="B0BAC5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378925" y="262128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defRPr/>
            </a:pPr>
            <a:r>
              <a:rPr lang="en-US" sz="1600" dirty="0">
                <a:solidFill>
                  <a:srgbClr val="B0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096000" y="2438400"/>
            <a:ext cx="24384" cy="182880"/>
          </a:xfrm>
          <a:prstGeom prst="rect">
            <a:avLst/>
          </a:prstGeom>
          <a:solidFill>
            <a:srgbClr val="B0BAC5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730240" y="262128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defRPr/>
            </a:pPr>
            <a:r>
              <a:rPr lang="en-US" sz="1600" dirty="0">
                <a:solidFill>
                  <a:srgbClr val="B0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2033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11582400" y="2438400"/>
            <a:ext cx="24384" cy="182880"/>
          </a:xfrm>
          <a:prstGeom prst="rect">
            <a:avLst/>
          </a:prstGeom>
          <a:solidFill>
            <a:srgbClr val="B0BAC5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1216640" y="262128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defRPr/>
            </a:pPr>
            <a:r>
              <a:rPr lang="en-US" sz="1600" dirty="0">
                <a:solidFill>
                  <a:srgbClr val="B0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2040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09600" y="2926080"/>
            <a:ext cx="5486400" cy="365760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  <p:txBody>
          <a:bodyPr/>
          <a:lstStyle/>
          <a:p>
            <a:pPr defTabSz="1219170"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09600" y="2926080"/>
            <a:ext cx="5486400" cy="4876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31520" y="2938272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Enterprise (5–7 yr)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09601" y="3596640"/>
            <a:ext cx="9405257" cy="365760"/>
          </a:xfrm>
          <a:prstGeom prst="rect">
            <a:avLst/>
          </a:prstGeom>
          <a:solidFill>
            <a:srgbClr val="F9C74F">
              <a:alpha val="60000"/>
            </a:srgbClr>
          </a:solidFill>
          <a:ln/>
        </p:spPr>
        <p:txBody>
          <a:bodyPr/>
          <a:lstStyle/>
          <a:p>
            <a:pPr defTabSz="1219170"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09601" y="3596640"/>
            <a:ext cx="9405257" cy="48768"/>
          </a:xfrm>
          <a:prstGeom prst="rect">
            <a:avLst/>
          </a:prstGeom>
          <a:solidFill>
            <a:srgbClr val="F9C74F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31520" y="3608832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Enterprise (8–12 yr)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09600" y="4267200"/>
            <a:ext cx="10972800" cy="365760"/>
          </a:xfrm>
          <a:prstGeom prst="rect">
            <a:avLst/>
          </a:prstGeom>
          <a:solidFill>
            <a:srgbClr val="F96167">
              <a:alpha val="60000"/>
            </a:srgbClr>
          </a:solidFill>
          <a:ln/>
        </p:spPr>
        <p:txBody>
          <a:bodyPr/>
          <a:lstStyle/>
          <a:p>
            <a:pPr defTabSz="1219170"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09600" y="4267200"/>
            <a:ext cx="10972800" cy="48768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731520" y="4279392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Enterprise (12–15+ yr)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1393373" y="4937760"/>
            <a:ext cx="4702628" cy="365760"/>
          </a:xfrm>
          <a:prstGeom prst="rect">
            <a:avLst/>
          </a:prstGeom>
          <a:solidFill>
            <a:srgbClr val="2EA043">
              <a:alpha val="60000"/>
            </a:srgbClr>
          </a:solidFill>
          <a:ln/>
        </p:spPr>
        <p:txBody>
          <a:bodyPr/>
          <a:lstStyle/>
          <a:p>
            <a:pPr defTabSz="1219170"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1393373" y="4937760"/>
            <a:ext cx="4702628" cy="48768"/>
          </a:xfrm>
          <a:prstGeom prst="rect">
            <a:avLst/>
          </a:prstGeom>
          <a:solidFill>
            <a:srgbClr val="2EA043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515292" y="4949952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CNSA 2.0 (2027 new acq → 2033 all NSS)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2177143" y="2804160"/>
            <a:ext cx="24384" cy="26822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096000" y="2804160"/>
            <a:ext cx="24384" cy="26822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609600" y="5730240"/>
            <a:ext cx="10972800" cy="853440"/>
          </a:xfrm>
          <a:prstGeom prst="rect">
            <a:avLst/>
          </a:prstGeom>
          <a:solidFill>
            <a:srgbClr val="2A1515"/>
          </a:solidFill>
          <a:ln/>
          <a:effectLst>
            <a:outerShdw blurRad="50800" dist="254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defTabSz="1219170"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6" name="Image 1" descr="Warn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5876544"/>
            <a:ext cx="426720" cy="42672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1463040" y="57912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enterprises may still be migrating when quantum computers can break RSA/ECC. Full CNSA 2.0 enforcement across all NSS by 2033 — inside the FTQC window.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0023C-D1AE-F8F9-AB69-F26BA3198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4483C-BF04-67A6-FA3F-8C7C5E1E8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4608" y="168586"/>
            <a:ext cx="9342784" cy="1792736"/>
          </a:xfrm>
        </p:spPr>
        <p:txBody>
          <a:bodyPr>
            <a:noAutofit/>
          </a:bodyPr>
          <a:lstStyle/>
          <a:p>
            <a:r>
              <a:rPr lang="en-US" sz="4800" dirty="0"/>
              <a:t>Who can name the phases of a PQC migration strategy?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1ABE5D-5C7A-A518-7421-403DFA048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56" y="3573102"/>
            <a:ext cx="11295087" cy="22843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EEA6C2-4627-0EA4-B162-925B18D5C229}"/>
              </a:ext>
            </a:extLst>
          </p:cNvPr>
          <p:cNvSpPr txBox="1"/>
          <p:nvPr/>
        </p:nvSpPr>
        <p:spPr>
          <a:xfrm>
            <a:off x="859022" y="2967335"/>
            <a:ext cx="10031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IBM’s Six-Phase PQC Migration Lifecycle</a:t>
            </a:r>
            <a:r>
              <a:rPr lang="en-US" sz="2400" dirty="0">
                <a:effectLst/>
              </a:rPr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1468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D9AC06-4C66-1751-F004-511967DDFF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4" b="1469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339B33-116E-A7EE-3471-A168D3099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101" y="4749968"/>
            <a:ext cx="982540" cy="2739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FE2557-5210-9079-869A-5F19255C9F12}"/>
              </a:ext>
            </a:extLst>
          </p:cNvPr>
          <p:cNvSpPr txBox="1"/>
          <p:nvPr/>
        </p:nvSpPr>
        <p:spPr>
          <a:xfrm>
            <a:off x="522583" y="179859"/>
            <a:ext cx="31226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Today’s Event!!!</a:t>
            </a:r>
          </a:p>
        </p:txBody>
      </p:sp>
    </p:spTree>
    <p:extLst>
      <p:ext uri="{BB962C8B-B14F-4D97-AF65-F5344CB8AC3E}">
        <p14:creationId xmlns:p14="http://schemas.microsoft.com/office/powerpoint/2010/main" val="2184767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409</Words>
  <Application>Microsoft Macintosh PowerPoint</Application>
  <PresentationFormat>Widescreen</PresentationFormat>
  <Paragraphs>39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</vt:lpstr>
      <vt:lpstr>Aptos Display</vt:lpstr>
      <vt:lpstr>Arial</vt:lpstr>
      <vt:lpstr>Arial Black</vt:lpstr>
      <vt:lpstr>Calibri</vt:lpstr>
      <vt:lpstr>IBM Plex Sans</vt:lpstr>
      <vt:lpstr>IBM Plex Sans Light</vt:lpstr>
      <vt:lpstr>Office Theme</vt:lpstr>
      <vt:lpstr>1_Office Theme</vt:lpstr>
      <vt:lpstr>Quantum-Ready Now: Federal Migration Strategies and Labs with IBM </vt:lpstr>
      <vt:lpstr>What is this device?</vt:lpstr>
      <vt:lpstr>Who is this person?</vt:lpstr>
      <vt:lpstr>When does the White House Executive Order, Securing the Nation Against Advanced Cryptography Attacks” require federal civilian agencies to submit their Post-Quantum Cryptography (PQC) migration plans—outlining their posture and inventory reviews?</vt:lpstr>
      <vt:lpstr>How long it will take for an average federal agency to migrate their cryptography algorithms to Quantum Safe? </vt:lpstr>
      <vt:lpstr>PowerPoint Presentation</vt:lpstr>
      <vt:lpstr>Who can name the phases of a PQC migration strategy?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 ANGELELLI</dc:creator>
  <cp:lastModifiedBy>LEE ANGELELLI</cp:lastModifiedBy>
  <cp:revision>2</cp:revision>
  <dcterms:created xsi:type="dcterms:W3CDTF">2026-06-25T01:05:54Z</dcterms:created>
  <dcterms:modified xsi:type="dcterms:W3CDTF">2026-06-25T03:38:41Z</dcterms:modified>
</cp:coreProperties>
</file>