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6" r:id="rId7"/>
    <p:sldId id="262" r:id="rId8"/>
    <p:sldId id="264" r:id="rId9"/>
    <p:sldId id="279" r:id="rId10"/>
    <p:sldId id="280" r:id="rId11"/>
    <p:sldId id="281" r:id="rId12"/>
    <p:sldId id="274" r:id="rId13"/>
    <p:sldId id="275" r:id="rId14"/>
    <p:sldId id="28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4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crypto agility as a systems-engineering discipline across PQC, Zero Trust, AI data security, and model artifact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NIST PQC FIPS announcement; OMB M-23-02; NSA CNSA 2.0 FAQ Version 2.1. Use this slide to establish both civilian and NSS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crypto agility as algorithm, protocol, key, policy, and posture agility. It requires architecture, policy, telemetry, testing, governance, and acquisition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OMB M-23-02 and CISA automated PQC discovery and inventory strategy. Use HNDL to justify funding discovery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NIST SP 800-207. Make the point that ZTA increases cryptographic identity, device, workload, API, and session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make the novel thesis concrete: model artifacts are not automatically cryptographic assets, but high-risk model artifacts should be evaluated for protection crypto, embedded secrets, and cryptographic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MissionShare is a fictional federal secure file-transfer and mission-collaboration application. It uses one AI capability: AI-assisted retrieval from archived mission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exact FIPS 140-3 module certificates, version, operational environment, approved mode, PQC roadmap, and substitution plan. For NSS-adjacent procurements, request CNSA 2.0/CNSSP-15 alignment and exceptions/waivers.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final line close the room. Do not add text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0000" y="800000"/>
            <a:ext cx="2900000" cy="520000"/>
          </a:xfrm>
          <a:prstGeom prst="roundRect">
            <a:avLst>
              <a:gd name="adj" fmla="val 22222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0000" y="800000"/>
            <a:ext cx="2900000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PQC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0000" y="1500000"/>
            <a:ext cx="2900000" cy="520000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0000" y="1500000"/>
            <a:ext cx="2900000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0000" y="2200000"/>
            <a:ext cx="2900000" cy="520000"/>
          </a:xfrm>
          <a:prstGeom prst="roundRect">
            <a:avLst>
              <a:gd name="adj" fmla="val 22222"/>
            </a:avLst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0000" y="2200000"/>
            <a:ext cx="2900000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+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0000" y="2900000"/>
            <a:ext cx="2900000" cy="520000"/>
          </a:xfrm>
          <a:prstGeom prst="roundRect">
            <a:avLst>
              <a:gd name="adj" fmla="val 22222"/>
            </a:avLst>
          </a:prstGeom>
          <a:solidFill>
            <a:srgbClr val="FF3B8A">
              <a:alpha val="85000"/>
            </a:srgbClr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0000" y="2900000"/>
            <a:ext cx="2900000" cy="5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Artifacts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914400"/>
            <a:ext cx="64008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 Agility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Federal Enterprise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85800" y="2606040"/>
            <a:ext cx="7223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Synchronizing PQC Migration, Zero Trust,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B8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and Data Security, and Model Artifact Governance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" y="4150000"/>
            <a:ext cx="7900000" cy="1500000"/>
          </a:xfrm>
          <a:prstGeom prst="roundRect">
            <a:avLst>
              <a:gd name="adj" fmla="val 8696"/>
            </a:avLst>
          </a:prstGeom>
          <a:solidFill>
            <a:srgbClr val="102A43">
              <a:alpha val="96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300000"/>
            <a:ext cx="2000000" cy="3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650000"/>
            <a:ext cx="7400000" cy="9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Federal agencies are not only migrating cryptography. They are migrating trust — at machine scale.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Now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adoption is the forcing function: federal modernization is creating a crypto-agility moment.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91440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380744"/>
            <a:ext cx="29352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PQC migration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46504"/>
            <a:ext cx="2898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modernization pressure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3B82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1234440"/>
            <a:ext cx="9144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36008" y="1380744"/>
            <a:ext cx="29352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implementation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746504"/>
            <a:ext cx="2898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modernization pressure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234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8B5C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9144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85048" y="1679288"/>
            <a:ext cx="2935224" cy="323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adoption (machine identities now outnumber humans ~82:1 to 144:1)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85632" y="1304384"/>
            <a:ext cx="2898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modernization pressure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2377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F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2377440"/>
            <a:ext cx="91440" cy="822960"/>
          </a:xfrm>
          <a:prstGeom prst="rect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6968" y="2523744"/>
            <a:ext cx="29352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/ SaaS / API modernization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889504"/>
            <a:ext cx="2898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that becomes crypto debt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2377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22C55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34840" y="2377440"/>
            <a:ext cx="9144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36008" y="2523744"/>
            <a:ext cx="29352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PKI + identity modernization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2889504"/>
            <a:ext cx="2898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that becomes crypto debt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83880" y="23774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83880" y="2377440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85048" y="2523744"/>
            <a:ext cx="29352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governance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2889504"/>
            <a:ext cx="2898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that becomes crypto debt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38862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Civilian and DoD federal track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325111"/>
            <a:ext cx="4572000" cy="8163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NSM-10 / OMB M-23-02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prioritize, and transition non-NSS cryptographic systems.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IR 8547 (Initial Public Draft): deprecate RSA/ECC after 2030, disallow after 2035.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38862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4096512"/>
            <a:ext cx="1920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NSS track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4425696"/>
            <a:ext cx="4663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CNSA 2.0 / CNSSP-15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NSS acquisitions: CNSA 2.0 compliant by Jan. 1, 2027 unless profile exceptions apply.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5806440"/>
            <a:ext cx="103327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modernize ZTA and AI without crypto agility are not just building tomorrow’s PQC backlog — they are turning a finite migration inventory into a continuously regenerating one.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 Agility Is a System Capability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more than algorithm substitution.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261872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02A43"/>
          </a:solidFill>
          <a:ln w="12700">
            <a:solidFill>
              <a:srgbClr val="00D4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10287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 agility = the ability to change cryptographic mechanisms safely, under governance, without rebuilding the mission system.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00000"/>
            <a:ext cx="1965960" cy="1700000"/>
          </a:xfrm>
          <a:prstGeom prst="roundRect">
            <a:avLst>
              <a:gd name="adj" fmla="val 5517"/>
            </a:avLst>
          </a:prstGeom>
          <a:solidFill>
            <a:srgbClr val="163B5C">
              <a:alpha val="96000"/>
            </a:srgbClr>
          </a:solidFill>
          <a:ln w="1651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2400000"/>
            <a:ext cx="91440" cy="1700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2546304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agility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912064"/>
            <a:ext cx="1618488" cy="1065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FIPS 203/ML-KEM,  FIPS 204/ML-DSA or FIPS 205/SLH-DSA  (hybrid where appropriate).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53512" y="2400000"/>
            <a:ext cx="1965960" cy="1700000"/>
          </a:xfrm>
          <a:prstGeom prst="roundRect">
            <a:avLst>
              <a:gd name="adj" fmla="val 5517"/>
            </a:avLst>
          </a:prstGeom>
          <a:solidFill>
            <a:srgbClr val="163B5C">
              <a:alpha val="96000"/>
            </a:srgbClr>
          </a:solidFill>
          <a:ln w="16510">
            <a:solidFill>
              <a:srgbClr val="3B82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53512" y="2400000"/>
            <a:ext cx="91440" cy="1700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2546304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agility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82112" y="2912064"/>
            <a:ext cx="1618488" cy="11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Negotiate approved suites without brittle fallback or silent downgrade.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21224" y="2400000"/>
            <a:ext cx="1965960" cy="1700000"/>
          </a:xfrm>
          <a:prstGeom prst="roundRect">
            <a:avLst>
              <a:gd name="adj" fmla="val 5517"/>
            </a:avLst>
          </a:prstGeom>
          <a:solidFill>
            <a:srgbClr val="163B5C">
              <a:alpha val="96000"/>
            </a:srgbClr>
          </a:solidFill>
          <a:ln w="16510">
            <a:solidFill>
              <a:srgbClr val="8B5C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21224" y="2400000"/>
            <a:ext cx="91440" cy="1700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22392" y="2546304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agility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9824" y="2912064"/>
            <a:ext cx="1618488" cy="11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Rotate, revoke, reissue, replace, and validate without mission disruption.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88936" y="2400000"/>
            <a:ext cx="1965960" cy="1700000"/>
          </a:xfrm>
          <a:prstGeom prst="roundRect">
            <a:avLst>
              <a:gd name="adj" fmla="val 5517"/>
            </a:avLst>
          </a:prstGeom>
          <a:solidFill>
            <a:srgbClr val="163B5C">
              <a:alpha val="96000"/>
            </a:srgbClr>
          </a:solidFill>
          <a:ln w="16510">
            <a:solidFill>
              <a:srgbClr val="FF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88936" y="2400000"/>
            <a:ext cx="91440" cy="1700000"/>
          </a:xfrm>
          <a:prstGeom prst="rect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90104" y="2546304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agility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17536" y="2912064"/>
            <a:ext cx="1618488" cy="11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rules centrally rather than hard-coding application logic.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56648" y="2400000"/>
            <a:ext cx="1965960" cy="1700000"/>
          </a:xfrm>
          <a:prstGeom prst="roundRect">
            <a:avLst>
              <a:gd name="adj" fmla="val 5517"/>
            </a:avLst>
          </a:prstGeom>
          <a:solidFill>
            <a:srgbClr val="163B5C">
              <a:alpha val="96000"/>
            </a:srgbClr>
          </a:solidFill>
          <a:ln w="16510">
            <a:solidFill>
              <a:srgbClr val="22C55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56648" y="2400000"/>
            <a:ext cx="91440" cy="1700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57816" y="2546304"/>
            <a:ext cx="16550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Posture agility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85248" y="2912064"/>
            <a:ext cx="1618488" cy="11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report what cryptography is actually in use.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cannot see it, you cannot migrate it. If you cannot govern it, you cannot make it agile.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PQC Migration Is Broader Than Algorithms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scope includes trust chains, long-lived data, and HNDL + HNFL exposure.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91440" cy="2194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289304"/>
            <a:ext cx="49926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crypto scope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4956048" cy="1591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/ VPN / SSH / IPsec / S/MIME / QUIC</a:t>
            </a:r>
            <a:endParaRPr lang="en-US" sz="1220" dirty="0"/>
          </a:p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PKI, certificates, trust anchors</a:t>
            </a:r>
            <a:endParaRPr lang="en-US" sz="1220" dirty="0"/>
          </a:p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signing, secure boot, software updates</a:t>
            </a:r>
            <a:endParaRPr lang="en-US" sz="1220" dirty="0"/>
          </a:p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KMS, HSMs, device + workload identity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263640" y="114300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F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91440" cy="2194560"/>
          </a:xfrm>
          <a:prstGeom prst="rect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64808" y="1289304"/>
            <a:ext cx="49469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AI + data scope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1615761"/>
            <a:ext cx="4910328" cy="1664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archives and file stores</a:t>
            </a:r>
            <a:endParaRPr lang="en-US" sz="1220" dirty="0"/>
          </a:p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repositories and registries</a:t>
            </a:r>
            <a:endParaRPr lang="en-US" sz="1220" dirty="0"/>
          </a:p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databases and retrieval stores</a:t>
            </a:r>
            <a:endParaRPr lang="en-US" sz="1220" dirty="0"/>
          </a:p>
          <a:p>
            <a:r>
              <a:rPr lang="en-US" sz="12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logs, embeddings, derived data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102A43"/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3968496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harvest axes change the timeline: HNDL and HNFL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251960"/>
            <a:ext cx="10012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Harvest-Now, Decrypt-Later (HNDL): Harvest-Now, Forge-Later (HNFL): public signing keys and token samples can be harvested today to forge valid identities and signatures. HNDL steals what was said; HNFL forges who is speaking.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4828032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FF3B8A">
              <a:alpha val="85000"/>
            </a:srgbClr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3272" y="4892040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archives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4828032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85032" y="4892040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Coalition comms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828032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36792" y="4892040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/ health / financial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0" y="4828032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88552" y="4892040"/>
            <a:ext cx="21854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corpora + vector stores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806440"/>
            <a:ext cx="10241280" cy="530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key and posture agility can protect harvested-class data and rotate anchors before they become forgeable.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Expands the Cryptographic Surface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ZTA multiplies the cryptographic trust relationships PQC must account for.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22C55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188720"/>
            <a:ext cx="9144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8408" y="1335024"/>
            <a:ext cx="103418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ZTA core shift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5840" y="1700784"/>
            <a:ext cx="103052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focuses on protecting users, assets, resources, services, workflows, and network accounts — not static network perimeters.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00D4FF">
              <a:alpha val="91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840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authentication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59E0B">
              <a:alpha val="91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6732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certificates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8B5CF6">
              <a:alpha val="9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624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identity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3B82F6">
              <a:alpha val="9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4516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encryption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3B8A">
              <a:alpha val="91000"/>
            </a:srgbClr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access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22C55E">
              <a:alpha val="91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6732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mesh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EF4444">
              <a:alpha val="91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624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access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3544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CC15">
              <a:alpha val="91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4516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authorization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0551" y="5394960"/>
            <a:ext cx="102412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does not reduce the need for cryptography; it expands the dependency surface — and only crypto agility can govern a surface this large.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AI: The Identity Multiplier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are not just data to protect — they are cryptographic actors at machine scale.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22C55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188720"/>
            <a:ext cx="9144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190003"/>
            <a:ext cx="103418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agent does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96696" y="1491916"/>
            <a:ext cx="10305288" cy="5197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authenticate, invoke tools, call other agents, execute plans, and persist state. Agent workflows commonly rely on quantum-vulnerable asymmetric cryptography across TLS, mTLS, OAuth/OIDC, signed artifacts, workload identity, and trust anchors.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00D4FF">
              <a:alpha val="91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840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identity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59E0B">
              <a:alpha val="91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6732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invocation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8B5CF6">
              <a:alpha val="91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5624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Inter-agent mTLS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2606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3B82F6">
              <a:alpha val="91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45168" y="2825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trust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3B8A">
              <a:alpha val="91000"/>
            </a:srgbClr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&amp; state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22C55E">
              <a:alpha val="91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6732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signing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EF4444">
              <a:alpha val="91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624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provenance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35440" y="37490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CC15">
              <a:alpha val="91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45168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negotiation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5240794"/>
            <a:ext cx="10241280" cy="5656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adds cryptographic actors at machine scale: runtime-negotiated, NHI-dense, high-churn. Agility must live in the identity fabric, not the application.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5806440"/>
            <a:ext cx="9966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Models May Contain Cryptographic or Secret Material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289304"/>
            <a:ext cx="1052474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case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1655064"/>
            <a:ext cx="10488168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fine-tuned model is exported from development. Its serialized config, checkpoint metadata, or deployment package retains a bearer token, API credential, signing reference, or environment-derived secret. The model is published to an internal registry outside secret-scanning, key-management, CBOM, or crypto-inventory workflows.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91440" cy="1874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3118104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Protection crypto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2990088" cy="1271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at rest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for transfer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model packages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authentication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297180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F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0" y="2971800"/>
            <a:ext cx="91440" cy="1874520"/>
          </a:xfrm>
          <a:prstGeom prst="rect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90288" y="3118104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Embedded material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17720" y="3474720"/>
            <a:ext cx="2990088" cy="1271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tokens / credentials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 or key fragments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Certificates / trust anchors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in config or checkpoints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2440" y="297180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8B5C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2971800"/>
            <a:ext cx="91440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93608" y="3118104"/>
            <a:ext cx="30266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Functional behavior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321040" y="3474720"/>
            <a:ext cx="2990088" cy="1271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Encryption-like, keyed, or round-key-like parameter behavior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Oracle-like behavior (detailed under MBOM-PQC)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623560"/>
            <a:ext cx="10378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artifacts can become cryptographic assets, secret-bearing assets, or discovery targets — posture agility (discovery) must extend into the artifacts themselves.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MissionShare: A Legacy Mission Application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named example to follow through the rest of the deck.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3B82F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91440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1975104"/>
            <a:ext cx="160934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1572768" cy="722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client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client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teams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160020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1600200"/>
            <a:ext cx="91440" cy="1783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58768" y="1746504"/>
            <a:ext cx="21579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MissionShare Core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886200" y="2103120"/>
            <a:ext cx="2121408" cy="1179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file exchange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coordination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services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0" y="160020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F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1600200"/>
            <a:ext cx="91440" cy="1783080"/>
          </a:xfrm>
          <a:prstGeom prst="rect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42048" y="1746504"/>
            <a:ext cx="215798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Retrieval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269480" y="2103120"/>
            <a:ext cx="2121408" cy="1179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Archived mission content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retrieval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Prompt/context logging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0" y="3977640"/>
            <a:ext cx="5852160" cy="1500000"/>
          </a:xfrm>
          <a:prstGeom prst="roundRect">
            <a:avLst>
              <a:gd name="adj" fmla="val 5926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0" y="3977640"/>
            <a:ext cx="91440" cy="150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58768" y="4123944"/>
            <a:ext cx="554126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+ ATO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886200" y="4480560"/>
            <a:ext cx="5504688" cy="950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PKI / certificates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storage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signing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2487168"/>
            <a:ext cx="9144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2487168"/>
            <a:ext cx="914400" cy="0"/>
          </a:xfrm>
          <a:prstGeom prst="line">
            <a:avLst/>
          </a:prstGeom>
          <a:noFill/>
          <a:ln w="25400">
            <a:solidFill>
              <a:srgbClr val="FF3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3383280"/>
            <a:ext cx="411480" cy="59436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320" y="3383280"/>
            <a:ext cx="0" cy="59436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5623560"/>
            <a:ext cx="10515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capability: AI-assisted retrieval from archived mission content — plus AI agents that orchestrate retrieval and tasking, authenticated via the agency’s OAuth authorization server.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Crypto-Agile: MissionShare Today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Cryptography as sediment: decisions buried in every component — and no control plane to draw.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pic>
        <p:nvPicPr>
          <p:cNvPr id="900" name="agile_contrast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00" y="1330000"/>
            <a:ext cx="11400000" cy="521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Crypto-Agile: Same Boxes, One New Layer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 decisions move into a governed control plane — change becomes configuration, not rebuild.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pic>
        <p:nvPicPr>
          <p:cNvPr id="900" name="agile_contrast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00" y="1330000"/>
            <a:ext cx="11400000" cy="521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and Interoperability Gates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gates between a cryptographic change and production — each produces evidence, not assertions.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pic>
        <p:nvPicPr>
          <p:cNvPr id="900" name="agile_contrast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00" y="1330000"/>
            <a:ext cx="11400000" cy="521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73152" cy="6711696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10332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and Governance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22960"/>
            <a:ext cx="100584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federal buyers should require.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700000"/>
            <a:ext cx="3474720" cy="2400000"/>
          </a:xfrm>
          <a:prstGeom prst="roundRect">
            <a:avLst>
              <a:gd name="adj" fmla="val 2105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00000"/>
            <a:ext cx="91440" cy="2400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846304"/>
            <a:ext cx="3163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evidence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2202920"/>
            <a:ext cx="3127248" cy="1800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 inventory + CBOM/SBOM + FIPS 140-3 evidence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Identity-provider / authorization-server PQC roadmap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 posture telemetry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0832" y="1700000"/>
            <a:ext cx="3474720" cy="2400000"/>
          </a:xfrm>
          <a:prstGeom prst="roundRect">
            <a:avLst>
              <a:gd name="adj" fmla="val 2105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F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70832" y="1700000"/>
            <a:ext cx="91440" cy="2400000"/>
          </a:xfrm>
          <a:prstGeom prst="rect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846304"/>
            <a:ext cx="3163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model evidence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99432" y="2202920"/>
            <a:ext cx="3127248" cy="1800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BOM / model inventory (MBOM-PQC for high-risk)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signing + provenance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data-flow protection + registry controls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700000"/>
            <a:ext cx="3474720" cy="2400000"/>
          </a:xfrm>
          <a:prstGeom prst="roundRect">
            <a:avLst>
              <a:gd name="adj" fmla="val 2105"/>
            </a:avLst>
          </a:prstGeom>
          <a:solidFill>
            <a:srgbClr val="102A43">
              <a:alpha val="96000"/>
            </a:srgbClr>
          </a:solidFill>
          <a:ln w="1651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1700000"/>
            <a:ext cx="91440" cy="240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47888" y="1846304"/>
            <a:ext cx="31638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evidence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275320" y="2202920"/>
            <a:ext cx="3127248" cy="1800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and protocol configurability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lifecycle, rollback, and transition plans</a:t>
            </a:r>
            <a:endParaRPr lang="en-US" sz="1400" dirty="0"/>
          </a:p>
          <a:p>
            <a:r>
              <a:rPr lang="en-US" sz="14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CNSA 2.0 / CNSSP-15 alignment where NSS-adjacent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300000"/>
            <a:ext cx="10332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new federal system should be acquired as if cryptography will change again — because it will.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60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 Agility Is the Foundation for Future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588353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37475" y="1560731"/>
            <a:ext cx="932688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PQC is broader than algorithms.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88720" y="2294845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1328" y="2249538"/>
            <a:ext cx="9326880" cy="5826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expands cryptographic dependencies; agentic AI multiplies cryptographic actors at machine scale.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88720" y="3087467"/>
            <a:ext cx="164592" cy="164592"/>
          </a:xfrm>
          <a:prstGeom prst="ellipse">
            <a:avLst/>
          </a:prstGeom>
          <a:solidFill>
            <a:srgbClr val="FF3B8A"/>
          </a:solidFill>
          <a:ln w="12700">
            <a:solidFill>
              <a:srgbClr val="FF3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3037500"/>
            <a:ext cx="932688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creates sensitive data stores and trust chains.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188720" y="3770533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81328" y="3712836"/>
            <a:ext cx="9326880" cy="3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artifacts may be cryptographic discovery targets.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332720" cy="55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E6EF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 agility is a systems-engineering discipline that supports PQC migration, Zero Trust, AI data security, model governance, and mission resilience.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097280" y="5349240"/>
            <a:ext cx="10012680" cy="800000"/>
          </a:xfrm>
          <a:prstGeom prst="roundRect">
            <a:avLst>
              <a:gd name="adj" fmla="val 9756"/>
            </a:avLst>
          </a:prstGeom>
          <a:solidFill>
            <a:srgbClr val="102A43"/>
          </a:solidFill>
          <a:ln w="12700">
            <a:solidFill>
              <a:srgbClr val="00D4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17320" y="5389240"/>
            <a:ext cx="9372600" cy="720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standard changes, does the agency execute a governed transition — or start a rebuild?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035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Federal Talk · Crypto Agility + PQC + ZTA + AI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A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56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1610</Words>
  <Application>Microsoft Office PowerPoint</Application>
  <PresentationFormat>Widescreen</PresentationFormat>
  <Paragraphs>200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Agility in the Federal Enterprise</dc:title>
  <dc:subject>Crypto Agility in the Federal Enterprise</dc:subject>
  <dc:creator>OpenAI</dc:creator>
  <cp:lastModifiedBy>rob campbell</cp:lastModifiedBy>
  <cp:revision>3</cp:revision>
  <dcterms:created xsi:type="dcterms:W3CDTF">2026-05-14T02:53:13Z</dcterms:created>
  <dcterms:modified xsi:type="dcterms:W3CDTF">2026-06-22T13:46:14Z</dcterms:modified>
</cp:coreProperties>
</file>